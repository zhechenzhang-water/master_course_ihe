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0" r:id="rId6"/>
    <p:sldId id="264" r:id="rId7"/>
    <p:sldId id="262" r:id="rId8"/>
    <p:sldId id="266" r:id="rId9"/>
    <p:sldId id="269" r:id="rId10"/>
    <p:sldId id="268" r:id="rId11"/>
    <p:sldId id="265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0667" autoAdjust="0"/>
  </p:normalViewPr>
  <p:slideViewPr>
    <p:cSldViewPr snapToGrid="0">
      <p:cViewPr>
        <p:scale>
          <a:sx n="75" d="100"/>
          <a:sy n="75" d="100"/>
        </p:scale>
        <p:origin x="974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E1DDA3-F7BF-42D7-B20F-707473CFA316}" type="datetimeFigureOut">
              <a:rPr lang="en-GB" smtClean="0"/>
              <a:t>17/12/2019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641835-9EF0-4E82-86DD-0AD42FC6C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55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641835-9EF0-4E82-86DD-0AD42FC6C54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112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641835-9EF0-4E82-86DD-0AD42FC6C54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451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A61A-D507-4857-8CCD-9D081648AF50}" type="datetimeFigureOut">
              <a:rPr lang="en-GB" smtClean="0"/>
              <a:t>16/12/2019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BB00-6C47-41E1-892D-DAA2FB0DEE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910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A61A-D507-4857-8CCD-9D081648AF50}" type="datetimeFigureOut">
              <a:rPr lang="en-GB" smtClean="0"/>
              <a:t>16/12/2019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BB00-6C47-41E1-892D-DAA2FB0DEE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864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A61A-D507-4857-8CCD-9D081648AF50}" type="datetimeFigureOut">
              <a:rPr lang="en-GB" smtClean="0"/>
              <a:t>16/12/2019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BB00-6C47-41E1-892D-DAA2FB0DEE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44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A61A-D507-4857-8CCD-9D081648AF50}" type="datetimeFigureOut">
              <a:rPr lang="en-GB" smtClean="0"/>
              <a:t>16/12/2019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BB00-6C47-41E1-892D-DAA2FB0DEE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861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A61A-D507-4857-8CCD-9D081648AF50}" type="datetimeFigureOut">
              <a:rPr lang="en-GB" smtClean="0"/>
              <a:t>16/12/2019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BB00-6C47-41E1-892D-DAA2FB0DEE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56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A61A-D507-4857-8CCD-9D081648AF50}" type="datetimeFigureOut">
              <a:rPr lang="en-GB" smtClean="0"/>
              <a:t>16/12/2019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BB00-6C47-41E1-892D-DAA2FB0DEE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35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A61A-D507-4857-8CCD-9D081648AF50}" type="datetimeFigureOut">
              <a:rPr lang="en-GB" smtClean="0"/>
              <a:t>16/12/2019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BB00-6C47-41E1-892D-DAA2FB0DEE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817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A61A-D507-4857-8CCD-9D081648AF50}" type="datetimeFigureOut">
              <a:rPr lang="en-GB" smtClean="0"/>
              <a:t>16/12/2019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BB00-6C47-41E1-892D-DAA2FB0DEE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679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A61A-D507-4857-8CCD-9D081648AF50}" type="datetimeFigureOut">
              <a:rPr lang="en-GB" smtClean="0"/>
              <a:t>16/12/2019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BB00-6C47-41E1-892D-DAA2FB0DEE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570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A61A-D507-4857-8CCD-9D081648AF50}" type="datetimeFigureOut">
              <a:rPr lang="en-GB" smtClean="0"/>
              <a:t>16/12/2019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BB00-6C47-41E1-892D-DAA2FB0DEE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27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A61A-D507-4857-8CCD-9D081648AF50}" type="datetimeFigureOut">
              <a:rPr lang="en-GB" smtClean="0"/>
              <a:t>16/12/2019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9BB00-6C47-41E1-892D-DAA2FB0DEE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3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DA61A-D507-4857-8CCD-9D081648AF50}" type="datetimeFigureOut">
              <a:rPr lang="en-GB" smtClean="0"/>
              <a:t>16/12/2019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9BB00-6C47-41E1-892D-DAA2FB0DEE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81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19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84949" y="829576"/>
            <a:ext cx="8622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Sino-Russian </a:t>
            </a:r>
            <a:r>
              <a:rPr lang="en-US" sz="3600" b="1" dirty="0" err="1" smtClean="0"/>
              <a:t>Transboundary</a:t>
            </a:r>
            <a:r>
              <a:rPr lang="en-US" sz="3600" b="1" dirty="0" smtClean="0"/>
              <a:t> </a:t>
            </a:r>
            <a:r>
              <a:rPr lang="en-US" sz="3600" b="1" dirty="0"/>
              <a:t>Aquifer in the Middle Reaches of Amur River Basin </a:t>
            </a:r>
            <a:endParaRPr lang="en-GB" sz="36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500113" y="1972440"/>
            <a:ext cx="3191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smtClean="0"/>
              <a:t>By Yong Wang ; Zhechen Zhang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33046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3826" y="1276612"/>
            <a:ext cx="4563373" cy="5347708"/>
          </a:xfrm>
        </p:spPr>
        <p:txBody>
          <a:bodyPr>
            <a:noAutofit/>
          </a:bodyPr>
          <a:lstStyle/>
          <a:p>
            <a:r>
              <a:rPr lang="en-US" sz="2400" dirty="0"/>
              <a:t>Situated at </a:t>
            </a:r>
            <a:r>
              <a:rPr lang="en-US" sz="2400" dirty="0" smtClean="0"/>
              <a:t>the </a:t>
            </a:r>
            <a:r>
              <a:rPr lang="en-US" sz="2400" dirty="0"/>
              <a:t>border between China and </a:t>
            </a:r>
            <a:r>
              <a:rPr lang="en-US" sz="2400" dirty="0" smtClean="0"/>
              <a:t>Russian </a:t>
            </a:r>
            <a:r>
              <a:rPr lang="en-US" altLang="zh-CN" sz="2400" dirty="0" smtClean="0"/>
              <a:t>Far East</a:t>
            </a:r>
            <a:r>
              <a:rPr lang="zh-CN" altLang="en-US" sz="2400" dirty="0" smtClean="0"/>
              <a:t>，</a:t>
            </a:r>
            <a:r>
              <a:rPr lang="en-GB" altLang="zh-CN" sz="2400" dirty="0"/>
              <a:t>Heilongjiang-Amur River Basin</a:t>
            </a:r>
          </a:p>
          <a:p>
            <a:r>
              <a:rPr lang="en-US" altLang="zh-CN" sz="2400" dirty="0" smtClean="0"/>
              <a:t>West </a:t>
            </a:r>
            <a:r>
              <a:rPr lang="en-US" altLang="zh-CN" sz="2400" dirty="0" err="1" smtClean="0"/>
              <a:t>Xiaoxingan</a:t>
            </a:r>
            <a:r>
              <a:rPr lang="en-US" altLang="zh-CN" sz="2400" dirty="0" smtClean="0"/>
              <a:t> Mountains; Northwest Buren </a:t>
            </a:r>
            <a:r>
              <a:rPr lang="en-US" altLang="zh-CN" sz="2400" dirty="0"/>
              <a:t>heights in </a:t>
            </a:r>
            <a:r>
              <a:rPr lang="en-US" altLang="zh-CN" sz="2400" dirty="0" smtClean="0"/>
              <a:t>Russia; East </a:t>
            </a:r>
            <a:r>
              <a:rPr lang="en-US" altLang="zh-CN" sz="2400" dirty="0" err="1" smtClean="0"/>
              <a:t>Sihote-Aline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mountain range </a:t>
            </a:r>
            <a:r>
              <a:rPr lang="en-US" altLang="zh-CN" sz="2400" dirty="0" smtClean="0"/>
              <a:t>South Wanda </a:t>
            </a:r>
            <a:r>
              <a:rPr lang="en-US" altLang="zh-CN" sz="2400" dirty="0"/>
              <a:t>mountain of China. </a:t>
            </a:r>
            <a:endParaRPr lang="en-US" altLang="zh-CN" sz="2400" dirty="0" smtClean="0"/>
          </a:p>
          <a:p>
            <a:r>
              <a:rPr lang="en-US" altLang="zh-CN" sz="2400" dirty="0"/>
              <a:t>Heilongjiang-Amur River, </a:t>
            </a:r>
            <a:r>
              <a:rPr lang="en-US" altLang="zh-CN" sz="2400" dirty="0" err="1"/>
              <a:t>Wusuli</a:t>
            </a:r>
            <a:r>
              <a:rPr lang="en-US" altLang="zh-CN" sz="2400" dirty="0"/>
              <a:t> River and Songhua River run cross the area and form a valley plain. </a:t>
            </a:r>
          </a:p>
          <a:p>
            <a:r>
              <a:rPr lang="en-US" altLang="zh-CN" sz="2400" dirty="0" smtClean="0"/>
              <a:t>Size </a:t>
            </a:r>
            <a:r>
              <a:rPr lang="en-US" altLang="zh-CN" sz="2400" dirty="0"/>
              <a:t>100000km</a:t>
            </a:r>
            <a:r>
              <a:rPr lang="en-US" altLang="zh-CN" sz="2400" baseline="30000" dirty="0"/>
              <a:t>2</a:t>
            </a:r>
          </a:p>
          <a:p>
            <a:r>
              <a:rPr lang="en-US" sz="2400" dirty="0"/>
              <a:t>The elevation is about 100m.</a:t>
            </a: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94" y="1276612"/>
            <a:ext cx="6546313" cy="52730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0094" y="2122083"/>
            <a:ext cx="6546312" cy="358212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-1"/>
            <a:ext cx="12192000" cy="4484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Sino-Russian </a:t>
            </a:r>
            <a:r>
              <a:rPr lang="en-GB" dirty="0" err="1" smtClean="0"/>
              <a:t>Transboundary</a:t>
            </a:r>
            <a:r>
              <a:rPr lang="en-GB" dirty="0" smtClean="0"/>
              <a:t> </a:t>
            </a:r>
            <a:r>
              <a:rPr lang="en-GB" dirty="0"/>
              <a:t>Aquifer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496"/>
            <a:ext cx="1311215" cy="13112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094" y="594790"/>
            <a:ext cx="3489685" cy="535531"/>
          </a:xfr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Location</a:t>
            </a:r>
            <a:endParaRPr lang="en-GB" sz="3200" b="1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3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127" y="1433134"/>
            <a:ext cx="11163745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Amur River Basin in the middle reaches of Heilongjiang-Amur River is a large basin with mountains and </a:t>
            </a:r>
            <a:r>
              <a:rPr lang="en-US" sz="2400" b="1" dirty="0" smtClean="0"/>
              <a:t>abundant water resources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Around </a:t>
            </a:r>
            <a:r>
              <a:rPr lang="en-US" sz="2400" dirty="0"/>
              <a:t>the basin, there are various strata with weak permeability and magmatic rocks in low mountains and hills, forming the water </a:t>
            </a:r>
            <a:r>
              <a:rPr lang="en-US" sz="2400" b="1" dirty="0"/>
              <a:t>resisting boundary </a:t>
            </a:r>
            <a:r>
              <a:rPr lang="en-US" sz="2400" dirty="0"/>
              <a:t>of the aquifer. </a:t>
            </a:r>
            <a:endParaRPr lang="en-US" sz="2400" dirty="0" smtClean="0"/>
          </a:p>
          <a:p>
            <a:r>
              <a:rPr lang="en-US" sz="2400" dirty="0"/>
              <a:t>The aquifer is divided into single unconﬁned aquifer and </a:t>
            </a:r>
            <a:r>
              <a:rPr lang="en-US" altLang="zh-CN" sz="2400" dirty="0" smtClean="0"/>
              <a:t>semi-</a:t>
            </a:r>
            <a:r>
              <a:rPr lang="en-US" sz="2400" dirty="0" smtClean="0"/>
              <a:t>conﬁned aquifers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Tertiary mudstone and the whole bedrock distributed in the basement are the water </a:t>
            </a:r>
            <a:r>
              <a:rPr lang="en-US" sz="2400" b="1" dirty="0"/>
              <a:t>repellent boundary </a:t>
            </a:r>
            <a:r>
              <a:rPr lang="en-US" sz="2400" dirty="0"/>
              <a:t>of the lower plane. </a:t>
            </a:r>
            <a:endParaRPr lang="en-US" sz="2400" dirty="0" smtClean="0"/>
          </a:p>
          <a:p>
            <a:r>
              <a:rPr lang="en-US" sz="2400" dirty="0" smtClean="0"/>
              <a:t>Therefore</a:t>
            </a:r>
            <a:r>
              <a:rPr lang="en-US" sz="2400" dirty="0"/>
              <a:t>, the groundwater system of Heilongjiang Province is a relatively independent and unified system, and the state of groundwater is still in equilibrium.</a:t>
            </a: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12192000" cy="4484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Sino-Russian </a:t>
            </a:r>
            <a:r>
              <a:rPr lang="en-GB" dirty="0" err="1" smtClean="0"/>
              <a:t>Transboundary</a:t>
            </a:r>
            <a:r>
              <a:rPr lang="en-GB" dirty="0" smtClean="0"/>
              <a:t> </a:t>
            </a:r>
            <a:r>
              <a:rPr lang="en-GB" dirty="0"/>
              <a:t>Aquifer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496"/>
            <a:ext cx="1311215" cy="131121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10094" y="594790"/>
            <a:ext cx="5911026" cy="5355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Hydrogeological Characteristics</a:t>
            </a:r>
            <a:endParaRPr lang="en-GB" sz="3200" b="1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169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94" y="1735769"/>
            <a:ext cx="5628640" cy="4085911"/>
          </a:xfrm>
        </p:spPr>
        <p:txBody>
          <a:bodyPr>
            <a:normAutofit/>
          </a:bodyPr>
          <a:lstStyle/>
          <a:p>
            <a:r>
              <a:rPr lang="en-US" sz="2400" dirty="0"/>
              <a:t>The lithology of the aquifer is fine sand, medium sand and sand gravel, and the hydraulic conductivity is 12-35m/d. </a:t>
            </a: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939" y="1735770"/>
            <a:ext cx="5180386" cy="2980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3468" y="3436684"/>
            <a:ext cx="59110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Unconfined aquifer : </a:t>
            </a:r>
            <a:r>
              <a:rPr lang="en-US" sz="2400" dirty="0" smtClean="0"/>
              <a:t>mixed </a:t>
            </a:r>
            <a:r>
              <a:rPr lang="en-US" sz="2400" dirty="0"/>
              <a:t>sand and </a:t>
            </a:r>
            <a:r>
              <a:rPr lang="en-US" sz="2400" dirty="0" smtClean="0"/>
              <a:t>gravel</a:t>
            </a:r>
            <a:endParaRPr lang="en-US" sz="2400" dirty="0"/>
          </a:p>
          <a:p>
            <a:r>
              <a:rPr lang="en-US" sz="2400" dirty="0" smtClean="0"/>
              <a:t> Porosity:20-35 </a:t>
            </a:r>
            <a:r>
              <a:rPr lang="en-US" sz="2400" dirty="0"/>
              <a:t>% </a:t>
            </a:r>
            <a:r>
              <a:rPr lang="en-US" sz="2400" dirty="0" smtClean="0"/>
              <a:t> Permeability : medium</a:t>
            </a:r>
          </a:p>
          <a:p>
            <a:r>
              <a:rPr lang="en-US" sz="2400" b="1" dirty="0" smtClean="0"/>
              <a:t>Confined aquifer </a:t>
            </a:r>
            <a:r>
              <a:rPr lang="en-US" sz="2400" dirty="0" smtClean="0"/>
              <a:t>: </a:t>
            </a:r>
            <a:r>
              <a:rPr lang="en-US" sz="2400" dirty="0" err="1" smtClean="0"/>
              <a:t>coase</a:t>
            </a:r>
            <a:r>
              <a:rPr lang="en-US" sz="2400" dirty="0" smtClean="0"/>
              <a:t> </a:t>
            </a:r>
            <a:r>
              <a:rPr lang="en-US" sz="2400" dirty="0" smtClean="0"/>
              <a:t>sand</a:t>
            </a:r>
          </a:p>
          <a:p>
            <a:r>
              <a:rPr lang="en-US" sz="2400" dirty="0" smtClean="0"/>
              <a:t>Porosity:35-50</a:t>
            </a:r>
            <a:r>
              <a:rPr lang="en-US" sz="2400" dirty="0" smtClean="0"/>
              <a:t>%  Permeability : </a:t>
            </a:r>
            <a:r>
              <a:rPr lang="en-US" sz="2400" dirty="0" smtClean="0"/>
              <a:t>low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-1"/>
            <a:ext cx="12192000" cy="4484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Sino-Russian </a:t>
            </a:r>
            <a:r>
              <a:rPr lang="en-GB" dirty="0" err="1" smtClean="0"/>
              <a:t>Transboundary</a:t>
            </a:r>
            <a:r>
              <a:rPr lang="en-GB" dirty="0" smtClean="0"/>
              <a:t> </a:t>
            </a:r>
            <a:r>
              <a:rPr lang="en-GB" dirty="0"/>
              <a:t>Aquifer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496"/>
            <a:ext cx="1311215" cy="131121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510094" y="594790"/>
            <a:ext cx="5911026" cy="5355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Porosity and Permeability</a:t>
            </a:r>
            <a:endParaRPr lang="en-GB" sz="3200" b="1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766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28110"/>
          <a:stretch/>
        </p:blipFill>
        <p:spPr>
          <a:xfrm>
            <a:off x="2520351" y="1276613"/>
            <a:ext cx="7151298" cy="28889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2129" y="4311892"/>
            <a:ext cx="105418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groundwater recharged by </a:t>
            </a:r>
            <a:r>
              <a:rPr lang="en-US" sz="2400" b="1" dirty="0"/>
              <a:t>precipitation, river water and </a:t>
            </a:r>
            <a:r>
              <a:rPr lang="en-US" sz="2400" b="1" dirty="0" smtClean="0"/>
              <a:t>irrigation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main flow direction of groundwater is Songhua River in the south, which provides </a:t>
            </a:r>
            <a:r>
              <a:rPr lang="en-US" sz="2400" b="1" dirty="0"/>
              <a:t>basic flow </a:t>
            </a:r>
            <a:r>
              <a:rPr lang="en-US" sz="2400" dirty="0"/>
              <a:t>and partial flow direction for Heilong River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discharge comes from </a:t>
            </a:r>
            <a:r>
              <a:rPr lang="en-US" sz="2400" b="1" dirty="0"/>
              <a:t>river, evaporation and lateral </a:t>
            </a:r>
            <a:r>
              <a:rPr lang="en-US" sz="2400" b="1" dirty="0" smtClean="0"/>
              <a:t>runoff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river </a:t>
            </a:r>
            <a:r>
              <a:rPr lang="en-US" altLang="zh-CN" sz="2400" dirty="0" smtClean="0"/>
              <a:t>at this area</a:t>
            </a:r>
            <a:r>
              <a:rPr lang="en-US" sz="2400" dirty="0" smtClean="0"/>
              <a:t> </a:t>
            </a:r>
            <a:r>
              <a:rPr lang="en-US" sz="2400" dirty="0"/>
              <a:t>is winding intensively and the groundwater and </a:t>
            </a:r>
            <a:r>
              <a:rPr lang="en-US" sz="2400" dirty="0" smtClean="0"/>
              <a:t>surface water </a:t>
            </a:r>
            <a:r>
              <a:rPr lang="en-US" sz="2400" b="1" dirty="0"/>
              <a:t>exchange frequently</a:t>
            </a:r>
            <a:endParaRPr lang="en-GB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0" y="-1"/>
            <a:ext cx="12192000" cy="4484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Sino-Russian </a:t>
            </a:r>
            <a:r>
              <a:rPr lang="en-GB" dirty="0" err="1" smtClean="0"/>
              <a:t>Transboundary</a:t>
            </a:r>
            <a:r>
              <a:rPr lang="en-GB" dirty="0" smtClean="0"/>
              <a:t> </a:t>
            </a:r>
            <a:r>
              <a:rPr lang="en-GB" dirty="0"/>
              <a:t>Aquifer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496"/>
            <a:ext cx="1311215" cy="131121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510094" y="594790"/>
            <a:ext cx="3523426" cy="5355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 Conceptual </a:t>
            </a:r>
            <a:r>
              <a:rPr lang="en-US" altLang="zh-CN" sz="3200" b="1" dirty="0" smtClean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model</a:t>
            </a:r>
            <a:endParaRPr lang="en-GB" sz="3200" b="1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074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059755" y="-1447531"/>
            <a:ext cx="8072490" cy="116027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-1"/>
            <a:ext cx="12192000" cy="4484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Sino-Russian </a:t>
            </a:r>
            <a:r>
              <a:rPr lang="en-GB" dirty="0" err="1" smtClean="0"/>
              <a:t>Transboundary</a:t>
            </a:r>
            <a:r>
              <a:rPr lang="en-GB" dirty="0" smtClean="0"/>
              <a:t> </a:t>
            </a:r>
            <a:r>
              <a:rPr lang="en-GB" dirty="0"/>
              <a:t>Aquifer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496"/>
            <a:ext cx="1311215" cy="131121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10094" y="594790"/>
            <a:ext cx="5911026" cy="5355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Recharge</a:t>
            </a:r>
            <a:endParaRPr lang="en-GB" sz="3200" b="1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880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132870"/>
              </p:ext>
            </p:extLst>
          </p:nvPr>
        </p:nvGraphicFramePr>
        <p:xfrm>
          <a:off x="655607" y="1311214"/>
          <a:ext cx="5051853" cy="15773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30013"/>
                <a:gridCol w="1036320"/>
                <a:gridCol w="985520"/>
              </a:tblGrid>
              <a:tr h="326631">
                <a:tc>
                  <a:txBody>
                    <a:bodyPr/>
                    <a:lstStyle/>
                    <a:p>
                      <a:pPr algn="ctr"/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China</a:t>
                      </a:r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Russia</a:t>
                      </a:r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Annual average groundwater recharge(10</a:t>
                      </a:r>
                      <a:r>
                        <a:rPr lang="en-US" sz="1800" baseline="30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en-US" altLang="zh-CN" sz="1800" baseline="30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800" dirty="0" smtClean="0">
                          <a:solidFill>
                            <a:schemeClr val="tx1"/>
                          </a:solidFill>
                        </a:rPr>
                        <a:t>）</a:t>
                      </a:r>
                      <a:endParaRPr lang="en-GB" sz="18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51.4</a:t>
                      </a:r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47.3</a:t>
                      </a:r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Annual average groundwater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aseline="0" dirty="0" smtClean="0">
                          <a:solidFill>
                            <a:schemeClr val="tx1"/>
                          </a:solidFill>
                        </a:rPr>
                        <a:t>withdraw </a:t>
                      </a:r>
                      <a:r>
                        <a:rPr lang="en-US" altLang="zh-CN" sz="1800" baseline="0" dirty="0" smtClean="0">
                          <a:solidFill>
                            <a:schemeClr val="tx1"/>
                          </a:solidFill>
                        </a:rPr>
                        <a:t>capacity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en-US" sz="1800" baseline="30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en-US" altLang="zh-CN" sz="1800" baseline="30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800" dirty="0" smtClean="0">
                          <a:solidFill>
                            <a:schemeClr val="tx1"/>
                          </a:solidFill>
                        </a:rPr>
                        <a:t>）</a:t>
                      </a:r>
                      <a:endParaRPr lang="en-GB" sz="18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37.1</a:t>
                      </a:r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11.6</a:t>
                      </a:r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-1"/>
            <a:ext cx="12192000" cy="4484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Sino-Russian </a:t>
            </a:r>
            <a:r>
              <a:rPr lang="en-GB" dirty="0" err="1" smtClean="0"/>
              <a:t>Transboundary</a:t>
            </a:r>
            <a:r>
              <a:rPr lang="en-GB" dirty="0" smtClean="0"/>
              <a:t> </a:t>
            </a:r>
            <a:r>
              <a:rPr lang="en-GB" dirty="0"/>
              <a:t>Aquifer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496"/>
            <a:ext cx="1311215" cy="131121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510094" y="594790"/>
            <a:ext cx="5911026" cy="5355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Recharge</a:t>
            </a:r>
            <a:endParaRPr lang="en-GB" sz="3200" b="1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31720" y="1414741"/>
            <a:ext cx="5516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The two parts’ hydrogeological condition </a:t>
            </a:r>
            <a:r>
              <a:rPr lang="en-US" sz="2400" dirty="0"/>
              <a:t>are </a:t>
            </a:r>
            <a:r>
              <a:rPr lang="en-US" sz="2400" b="1" dirty="0"/>
              <a:t>similar</a:t>
            </a:r>
            <a:r>
              <a:rPr lang="en-US" sz="2400" dirty="0"/>
              <a:t>, and the groundwater resources are basically the </a:t>
            </a:r>
            <a:r>
              <a:rPr lang="en-US" sz="2400" b="1" dirty="0"/>
              <a:t>same</a:t>
            </a:r>
            <a:r>
              <a:rPr lang="en-US" sz="2400" dirty="0"/>
              <a:t>.</a:t>
            </a: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510094" y="5775236"/>
            <a:ext cx="111637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total discharge of groundwater is equal to the total recharge. The groundwater </a:t>
            </a:r>
            <a:r>
              <a:rPr lang="en-US" sz="2400" dirty="0" smtClean="0"/>
              <a:t>is </a:t>
            </a:r>
            <a:r>
              <a:rPr lang="en-US" sz="2400" dirty="0"/>
              <a:t>in a </a:t>
            </a:r>
            <a:r>
              <a:rPr lang="en-US" sz="2400" b="1" dirty="0">
                <a:solidFill>
                  <a:srgbClr val="FF0000"/>
                </a:solidFill>
              </a:rPr>
              <a:t>balanced state</a:t>
            </a:r>
            <a:r>
              <a:rPr lang="en-US" sz="2400" dirty="0"/>
              <a:t>, and the natural </a:t>
            </a:r>
            <a:r>
              <a:rPr lang="en-US" sz="2400" dirty="0" smtClean="0"/>
              <a:t>circle </a:t>
            </a:r>
            <a:r>
              <a:rPr lang="en-US" sz="2400" dirty="0"/>
              <a:t>of groundwater in the whole area is good.</a:t>
            </a:r>
            <a:endParaRPr lang="en-GB" sz="24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599899"/>
              </p:ext>
            </p:extLst>
          </p:nvPr>
        </p:nvGraphicFramePr>
        <p:xfrm>
          <a:off x="610870" y="3308350"/>
          <a:ext cx="9630411" cy="84582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083210"/>
                <a:gridCol w="1083210"/>
                <a:gridCol w="1929467"/>
                <a:gridCol w="1489413"/>
                <a:gridCol w="2555698"/>
                <a:gridCol w="1489413"/>
              </a:tblGrid>
              <a:tr h="18288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The equilibrium conditions of groundwater recharge in China are as follows(10</a:t>
                      </a:r>
                      <a:r>
                        <a:rPr lang="en-US" sz="1800" b="1" u="none" strike="noStrike" baseline="30000" dirty="0">
                          <a:effectLst/>
                        </a:rPr>
                        <a:t>8</a:t>
                      </a:r>
                      <a:r>
                        <a:rPr lang="en-US" sz="1800" b="1" u="none" strike="noStrike" dirty="0">
                          <a:effectLst/>
                        </a:rPr>
                        <a:t>m</a:t>
                      </a:r>
                      <a:r>
                        <a:rPr lang="en-US" sz="1800" b="1" u="none" strike="noStrike" baseline="30000" dirty="0">
                          <a:effectLst/>
                        </a:rPr>
                        <a:t>3</a:t>
                      </a:r>
                      <a:r>
                        <a:rPr lang="en-US" sz="1800" b="1" u="none" strike="noStrike" dirty="0">
                          <a:effectLst/>
                        </a:rPr>
                        <a:t>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Vertical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smtClean="0">
                          <a:effectLst/>
                        </a:rPr>
                        <a:t>River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Swamp and marsh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Lateral runoff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Precipitation infilltration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smtClean="0">
                          <a:effectLst/>
                        </a:rPr>
                        <a:t>Irrigation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33.8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5.8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7.3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4.5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27.8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6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158395"/>
              </p:ext>
            </p:extLst>
          </p:nvPr>
        </p:nvGraphicFramePr>
        <p:xfrm>
          <a:off x="610870" y="4600734"/>
          <a:ext cx="9630411" cy="84582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29480"/>
                <a:gridCol w="2746316"/>
                <a:gridCol w="2123816"/>
                <a:gridCol w="3130799"/>
              </a:tblGrid>
              <a:tr h="182880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The equilibrium conditions of groundwater discharge in China are as follows(10</a:t>
                      </a:r>
                      <a:r>
                        <a:rPr lang="en-US" sz="1800" b="1" u="none" strike="noStrike" baseline="30000" dirty="0">
                          <a:effectLst/>
                        </a:rPr>
                        <a:t>8</a:t>
                      </a:r>
                      <a:r>
                        <a:rPr lang="en-US" sz="1800" b="1" u="none" strike="noStrike" dirty="0">
                          <a:effectLst/>
                        </a:rPr>
                        <a:t>m</a:t>
                      </a:r>
                      <a:r>
                        <a:rPr lang="en-US" sz="1800" b="1" u="none" strike="noStrike" baseline="30000" dirty="0">
                          <a:effectLst/>
                        </a:rPr>
                        <a:t>3</a:t>
                      </a:r>
                      <a:r>
                        <a:rPr lang="en-US" sz="1800" b="1" u="none" strike="noStrike" dirty="0">
                          <a:effectLst/>
                        </a:rPr>
                        <a:t>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kern="1200" dirty="0" smtClean="0">
                          <a:effectLst/>
                        </a:rPr>
                        <a:t>River</a:t>
                      </a:r>
                      <a:endParaRPr lang="en-GB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Swamp and marsh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smtClean="0">
                          <a:effectLst/>
                        </a:rPr>
                        <a:t>Evaporation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Lateral runoff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2.2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1.4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4.6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6.1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4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440" y="1059707"/>
            <a:ext cx="4656065" cy="40609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0095" y="1145872"/>
            <a:ext cx="591102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Purpose: </a:t>
            </a:r>
            <a:r>
              <a:rPr lang="en-US" sz="2400" b="1" dirty="0"/>
              <a:t>water supply</a:t>
            </a:r>
            <a:r>
              <a:rPr lang="en-US" sz="2400" dirty="0"/>
              <a:t> for </a:t>
            </a:r>
            <a:r>
              <a:rPr lang="en-US" sz="2400" b="1" dirty="0"/>
              <a:t>life</a:t>
            </a:r>
            <a:r>
              <a:rPr lang="en-US" sz="2400" dirty="0"/>
              <a:t> and </a:t>
            </a:r>
            <a:r>
              <a:rPr lang="en-US" sz="2400" b="1" dirty="0"/>
              <a:t>irrigation</a:t>
            </a:r>
            <a:r>
              <a:rPr lang="en-US" sz="2400" dirty="0"/>
              <a:t> of China and Russia.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Jiamusi in China and Khabarovsk in Russia rely on underground water sources along the Songhua River and the Amur River as their urban water supplies.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 actual amount of underground water extracted in China was 21.3*10</a:t>
            </a:r>
            <a:r>
              <a:rPr lang="en-US" sz="2400" baseline="30000" dirty="0"/>
              <a:t>8</a:t>
            </a:r>
            <a:r>
              <a:rPr lang="en-US" sz="2400" dirty="0"/>
              <a:t>m</a:t>
            </a:r>
            <a:r>
              <a:rPr lang="en-US" sz="2400" baseline="30000" dirty="0"/>
              <a:t>3</a:t>
            </a:r>
            <a:r>
              <a:rPr lang="en-US" sz="2400" dirty="0"/>
              <a:t>/a, about 2/3 of the amount of underground water extracted. </a:t>
            </a:r>
          </a:p>
        </p:txBody>
      </p:sp>
      <p:sp>
        <p:nvSpPr>
          <p:cNvPr id="7" name="Rectangle 6"/>
          <p:cNvSpPr/>
          <p:nvPr/>
        </p:nvSpPr>
        <p:spPr>
          <a:xfrm>
            <a:off x="510094" y="5050071"/>
            <a:ext cx="111873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 underground water extracted in Russia is limited to 100 meters, and the actual amount extracted is far less than the underground water reserves.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Groundwater recharge and groundwater </a:t>
            </a:r>
            <a:r>
              <a:rPr lang="en-US" sz="2400" dirty="0" smtClean="0"/>
              <a:t>discharge </a:t>
            </a:r>
            <a:r>
              <a:rPr lang="en-US" sz="2400" dirty="0"/>
              <a:t>are generally in </a:t>
            </a:r>
            <a:r>
              <a:rPr lang="en-US" sz="2400" b="1" dirty="0"/>
              <a:t>balance</a:t>
            </a:r>
            <a:r>
              <a:rPr lang="en-US" sz="2400" dirty="0"/>
              <a:t>, and groundwater runoff is basically in its </a:t>
            </a:r>
            <a:r>
              <a:rPr lang="en-US" sz="2400" b="1" dirty="0"/>
              <a:t>natural state</a:t>
            </a:r>
            <a:r>
              <a:rPr lang="en-US" sz="24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4484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/>
              <a:t>Sino-Russian </a:t>
            </a:r>
            <a:r>
              <a:rPr lang="en-GB" dirty="0" err="1" smtClean="0"/>
              <a:t>Transboundary</a:t>
            </a:r>
            <a:r>
              <a:rPr lang="en-GB" dirty="0" smtClean="0"/>
              <a:t> </a:t>
            </a:r>
            <a:r>
              <a:rPr lang="en-GB" dirty="0"/>
              <a:t>Aquifer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496"/>
            <a:ext cx="1311215" cy="1311215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510094" y="594790"/>
            <a:ext cx="5911026" cy="5355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Groundwater usage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577832" y="4680739"/>
            <a:ext cx="261416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Population density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5531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10093" y="1120863"/>
            <a:ext cx="10980291" cy="313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dirty="0"/>
              <a:t>China part: </a:t>
            </a:r>
            <a:r>
              <a:rPr lang="en-GB" sz="2400" dirty="0"/>
              <a:t>the groundwater chemical type of the pore water of Quaternary unconsolidated sediment is mainly HCO3-Ca.Mg, besides HCO3-Ca, HCO3-Na.Ca.T</a:t>
            </a:r>
            <a:r>
              <a:rPr lang="en-US" sz="2400" dirty="0"/>
              <a:t>he pore water of Quaternary unconsolidated sediments was mostly </a:t>
            </a:r>
            <a:r>
              <a:rPr lang="en-US" sz="2400" b="1" dirty="0"/>
              <a:t>suitable for drinking and irrigation</a:t>
            </a:r>
            <a:r>
              <a:rPr lang="en-US" sz="2400" dirty="0"/>
              <a:t>.</a:t>
            </a:r>
            <a:endParaRPr lang="en-GB" sz="2400" dirty="0"/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b="1" dirty="0"/>
              <a:t>Russian part: </a:t>
            </a:r>
            <a:r>
              <a:rPr lang="en-GB" altLang="zh-CN" sz="2400" b="1" dirty="0"/>
              <a:t>mineralization degree </a:t>
            </a:r>
            <a:r>
              <a:rPr lang="en-US" altLang="zh-CN" sz="2400" b="1" dirty="0"/>
              <a:t>is high</a:t>
            </a:r>
            <a:r>
              <a:rPr lang="en-US" altLang="zh-CN" sz="2400" dirty="0"/>
              <a:t>.</a:t>
            </a:r>
            <a:r>
              <a:rPr lang="en-GB" sz="2400" dirty="0"/>
              <a:t> </a:t>
            </a:r>
            <a:r>
              <a:rPr lang="en-US" sz="2400" dirty="0">
                <a:ea typeface="SimSun" panose="02010600030101010101" pitchFamily="2" charset="-122"/>
                <a:cs typeface="Times New Roman" panose="02020603050405020304" pitchFamily="18" charset="0"/>
              </a:rPr>
              <a:t>The quality of groundwater near Khabarovsk is closely related to the needs of residents and industry, so Russia is using modern technology to directly </a:t>
            </a:r>
            <a:r>
              <a:rPr lang="en-GB" sz="2400" b="1" dirty="0"/>
              <a:t>depress the content</a:t>
            </a:r>
            <a:r>
              <a:rPr lang="en-GB" sz="2400" dirty="0"/>
              <a:t> </a:t>
            </a:r>
            <a:r>
              <a:rPr lang="en-US" sz="2400" dirty="0">
                <a:ea typeface="SimSun" panose="02010600030101010101" pitchFamily="2" charset="-122"/>
                <a:cs typeface="Times New Roman" panose="02020603050405020304" pitchFamily="18" charset="0"/>
              </a:rPr>
              <a:t>iron and manganese in groundwater</a:t>
            </a:r>
            <a:endParaRPr lang="en-GB" sz="2400" dirty="0"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-1"/>
            <a:ext cx="12192000" cy="4484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Sino-Russian </a:t>
            </a:r>
            <a:r>
              <a:rPr lang="en-GB" dirty="0" err="1" smtClean="0"/>
              <a:t>Transboundary</a:t>
            </a:r>
            <a:r>
              <a:rPr lang="en-GB" dirty="0" smtClean="0"/>
              <a:t> </a:t>
            </a:r>
            <a:r>
              <a:rPr lang="en-GB" dirty="0"/>
              <a:t>Aquifer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496"/>
            <a:ext cx="1311215" cy="131121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10094" y="594790"/>
            <a:ext cx="5911026" cy="5355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Groundwater quality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39487" t="21909" r="39359" b="27493"/>
          <a:stretch/>
        </p:blipFill>
        <p:spPr>
          <a:xfrm>
            <a:off x="2908304" y="4050701"/>
            <a:ext cx="2414193" cy="27142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36282" t="39685" r="36154" b="26810"/>
          <a:stretch/>
        </p:blipFill>
        <p:spPr>
          <a:xfrm>
            <a:off x="5240887" y="4099055"/>
            <a:ext cx="4035193" cy="275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6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0809" y="1371029"/>
            <a:ext cx="7594119" cy="4351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In February 2002, China and Russia signed a memorandum to solve the problem of water quality in the border river.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Since December 2005, the geological survey department of China has sampled and tested aquifer groundwater along the Songhua River from Jilin to Heilongjiang province.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During the 34th international congress on hydrogeology, held in October 2006, UNESCO hosted a workshop on </a:t>
            </a:r>
            <a:r>
              <a:rPr lang="en-US" sz="2000" dirty="0" err="1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transboundary</a:t>
            </a:r>
            <a:r>
              <a:rPr lang="en-US" sz="20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aquifers in Asia. Chinese and Russian geologists have held face-to-face discussions and exchanges on this aquifer.</a:t>
            </a:r>
            <a:endParaRPr lang="en-GB" sz="20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With the active promotion of the Chinese and Russian governments and the attention of the international community, the research on this aquifer is progressing continuously.</a:t>
            </a:r>
            <a:endParaRPr lang="en-GB" sz="20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230" y="879719"/>
            <a:ext cx="3481540" cy="26098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-1"/>
            <a:ext cx="12192000" cy="4484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Sino-Russian </a:t>
            </a:r>
            <a:r>
              <a:rPr lang="en-GB" dirty="0" err="1" smtClean="0"/>
              <a:t>Transboundary</a:t>
            </a:r>
            <a:r>
              <a:rPr lang="en-GB" dirty="0" smtClean="0"/>
              <a:t> </a:t>
            </a:r>
            <a:r>
              <a:rPr lang="en-GB" dirty="0"/>
              <a:t>Aquifer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496"/>
            <a:ext cx="1311215" cy="131121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10094" y="775683"/>
            <a:ext cx="7176042" cy="5355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 Cooperation between China and </a:t>
            </a:r>
            <a:r>
              <a:rPr lang="en-US" altLang="zh-CN" sz="3200" b="1" dirty="0" smtClean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Russia</a:t>
            </a:r>
            <a:endParaRPr lang="en-US" altLang="zh-CN" sz="3200" b="1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231" y="3920790"/>
            <a:ext cx="3481540" cy="248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2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290" y="449636"/>
            <a:ext cx="8679420" cy="64083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-1"/>
            <a:ext cx="12192000" cy="4484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Sino-Russian </a:t>
            </a:r>
            <a:r>
              <a:rPr lang="en-GB" dirty="0" err="1" smtClean="0"/>
              <a:t>Transboundary</a:t>
            </a:r>
            <a:r>
              <a:rPr lang="en-GB" dirty="0" smtClean="0"/>
              <a:t> </a:t>
            </a:r>
            <a:r>
              <a:rPr lang="en-GB" dirty="0"/>
              <a:t>Aquifer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496"/>
            <a:ext cx="1311215" cy="13112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163875"/>
            <a:ext cx="8077200" cy="442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9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0094" y="1384582"/>
            <a:ext cx="101548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800"/>
              </a:spcAft>
            </a:pPr>
            <a:r>
              <a:rPr lang="en-GB" dirty="0" err="1">
                <a:latin typeface="Calibri" panose="020F0502020204030204" pitchFamily="34" charset="0"/>
                <a:ea typeface="SimSun" panose="02010600030101010101" pitchFamily="2" charset="-122"/>
              </a:rPr>
              <a:t>Zaisheng</a:t>
            </a: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, H., </a:t>
            </a:r>
            <a:r>
              <a:rPr lang="en-GB" dirty="0" err="1">
                <a:latin typeface="Calibri" panose="020F0502020204030204" pitchFamily="34" charset="0"/>
                <a:ea typeface="SimSun" panose="02010600030101010101" pitchFamily="2" charset="-122"/>
              </a:rPr>
              <a:t>Jayakumar</a:t>
            </a: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, R., </a:t>
            </a:r>
            <a:r>
              <a:rPr lang="en-GB" dirty="0" err="1">
                <a:latin typeface="Calibri" panose="020F0502020204030204" pitchFamily="34" charset="0"/>
                <a:ea typeface="SimSun" panose="02010600030101010101" pitchFamily="2" charset="-122"/>
              </a:rPr>
              <a:t>Ke</a:t>
            </a: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, L., </a:t>
            </a:r>
            <a:r>
              <a:rPr lang="en-GB" dirty="0" err="1">
                <a:latin typeface="Calibri" panose="020F0502020204030204" pitchFamily="34" charset="0"/>
                <a:ea typeface="SimSun" panose="02010600030101010101" pitchFamily="2" charset="-122"/>
              </a:rPr>
              <a:t>Hao</a:t>
            </a: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, W. and </a:t>
            </a:r>
            <a:r>
              <a:rPr lang="en-GB" dirty="0" err="1">
                <a:latin typeface="Calibri" panose="020F0502020204030204" pitchFamily="34" charset="0"/>
                <a:ea typeface="SimSun" panose="02010600030101010101" pitchFamily="2" charset="-122"/>
              </a:rPr>
              <a:t>Rui</a:t>
            </a: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, C.  (2008)  Review on </a:t>
            </a:r>
            <a:r>
              <a:rPr lang="en-GB" dirty="0" err="1">
                <a:latin typeface="Calibri" panose="020F0502020204030204" pitchFamily="34" charset="0"/>
                <a:ea typeface="SimSun" panose="02010600030101010101" pitchFamily="2" charset="-122"/>
              </a:rPr>
              <a:t>transboundary</a:t>
            </a: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 aquifers in People's Republic of China with case study of Heilongjiang-Amur River Basin. Environmental Geology 54(7), 1411-1422.</a:t>
            </a:r>
          </a:p>
        </p:txBody>
      </p:sp>
      <p:sp>
        <p:nvSpPr>
          <p:cNvPr id="3" name="Rectangle 2"/>
          <p:cNvSpPr/>
          <p:nvPr/>
        </p:nvSpPr>
        <p:spPr>
          <a:xfrm>
            <a:off x="510094" y="2597665"/>
            <a:ext cx="10154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Han </a:t>
            </a:r>
            <a:r>
              <a:rPr lang="en-GB" dirty="0" err="1">
                <a:latin typeface="Calibri" panose="020F0502020204030204" pitchFamily="34" charset="0"/>
                <a:ea typeface="SimSun" panose="02010600030101010101" pitchFamily="2" charset="-122"/>
              </a:rPr>
              <a:t>Zaisheng</a:t>
            </a: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 , Wang, </a:t>
            </a:r>
            <a:r>
              <a:rPr lang="en-GB" dirty="0" err="1">
                <a:latin typeface="Calibri" panose="020F0502020204030204" pitchFamily="34" charset="0"/>
                <a:ea typeface="SimSun" panose="02010600030101010101" pitchFamily="2" charset="-122"/>
              </a:rPr>
              <a:t>Hao</a:t>
            </a: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 , Chai </a:t>
            </a:r>
            <a:r>
              <a:rPr lang="en-GB" dirty="0" err="1">
                <a:latin typeface="Calibri" panose="020F0502020204030204" pitchFamily="34" charset="0"/>
                <a:ea typeface="SimSun" panose="02010600030101010101" pitchFamily="2" charset="-122"/>
              </a:rPr>
              <a:t>Rui</a:t>
            </a: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 , </a:t>
            </a:r>
            <a:r>
              <a:rPr lang="en-GB" dirty="0" err="1">
                <a:latin typeface="Calibri" panose="020F0502020204030204" pitchFamily="34" charset="0"/>
                <a:ea typeface="SimSun" panose="02010600030101010101" pitchFamily="2" charset="-122"/>
              </a:rPr>
              <a:t>Jayakumar</a:t>
            </a: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, R. , Liu </a:t>
            </a:r>
            <a:r>
              <a:rPr lang="en-GB" dirty="0" err="1">
                <a:latin typeface="Calibri" panose="020F0502020204030204" pitchFamily="34" charset="0"/>
                <a:ea typeface="SimSun" panose="02010600030101010101" pitchFamily="2" charset="-122"/>
              </a:rPr>
              <a:t>Ke</a:t>
            </a: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 , Wang Jin (2006)</a:t>
            </a:r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SimSun" panose="02010600030101010101" pitchFamily="2" charset="-122"/>
              </a:rPr>
              <a:t>Transboundary</a:t>
            </a:r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 aquifers in Asia with special emphasis to China. UNESCO </a:t>
            </a: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programme and meeting document.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0094" y="3533749"/>
            <a:ext cx="10154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800"/>
              </a:spcAft>
            </a:pPr>
            <a:r>
              <a:rPr lang="en-US" dirty="0" err="1">
                <a:latin typeface="Calibri" panose="020F0502020204030204" pitchFamily="34" charset="0"/>
                <a:ea typeface="SimSun" panose="02010600030101010101" pitchFamily="2" charset="-122"/>
              </a:rPr>
              <a:t>Zektser</a:t>
            </a:r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 IS, Everett LG (2004) Groundwater resources of the world and their use. UNESCO IHP-VI, series on groundwater 6. UNESCO, Paris </a:t>
            </a:r>
            <a:endParaRPr lang="en-GB" dirty="0"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0094" y="4469833"/>
            <a:ext cx="10154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Sergey A, </a:t>
            </a:r>
            <a:r>
              <a:rPr lang="en-GB" dirty="0" err="1">
                <a:latin typeface="Calibri" panose="020F0502020204030204" pitchFamily="34" charset="0"/>
                <a:ea typeface="SimSun" panose="02010600030101010101" pitchFamily="2" charset="-122"/>
              </a:rPr>
              <a:t>Kozlov</a:t>
            </a:r>
            <a:r>
              <a:rPr lang="en-GB" dirty="0">
                <a:latin typeface="Calibri" panose="020F0502020204030204" pitchFamily="34" charset="0"/>
                <a:ea typeface="SimSun" panose="02010600030101010101" pitchFamily="2" charset="-122"/>
              </a:rPr>
              <a:t> (2006) Quality of groundwater of the Middle-Amur artesian basin (The Far East of Russia). 34th IAH Congress paper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-1"/>
            <a:ext cx="12192000" cy="4484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Sino-Russian </a:t>
            </a:r>
            <a:r>
              <a:rPr lang="en-GB" dirty="0" err="1" smtClean="0"/>
              <a:t>Transboundary</a:t>
            </a:r>
            <a:r>
              <a:rPr lang="en-GB" dirty="0" smtClean="0"/>
              <a:t> </a:t>
            </a:r>
            <a:r>
              <a:rPr lang="en-GB" dirty="0"/>
              <a:t>Aquifer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496"/>
            <a:ext cx="1311215" cy="131121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510094" y="775683"/>
            <a:ext cx="7176042" cy="5355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z="3200" b="1" dirty="0" smtClean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References</a:t>
            </a:r>
            <a:endParaRPr lang="en-US" altLang="zh-CN" sz="3200" b="1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2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484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Sino-Russian </a:t>
            </a:r>
            <a:r>
              <a:rPr lang="en-GB" dirty="0" err="1" smtClean="0"/>
              <a:t>Transboundary</a:t>
            </a:r>
            <a:r>
              <a:rPr lang="en-GB" dirty="0" smtClean="0"/>
              <a:t> </a:t>
            </a:r>
            <a:r>
              <a:rPr lang="en-GB" dirty="0"/>
              <a:t>Aquifer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496"/>
            <a:ext cx="1311215" cy="13112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98270" y="2540000"/>
            <a:ext cx="93954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/>
              <a:t>Thanks for your attention!</a:t>
            </a:r>
            <a:endParaRPr lang="en-GB" sz="6600" b="1" dirty="0"/>
          </a:p>
        </p:txBody>
      </p:sp>
    </p:spTree>
    <p:extLst>
      <p:ext uri="{BB962C8B-B14F-4D97-AF65-F5344CB8AC3E}">
        <p14:creationId xmlns:p14="http://schemas.microsoft.com/office/powerpoint/2010/main" val="154041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3365</TotalTime>
  <Words>918</Words>
  <Application>Microsoft Office PowerPoint</Application>
  <PresentationFormat>Widescreen</PresentationFormat>
  <Paragraphs>94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宋体</vt:lpstr>
      <vt:lpstr>宋体</vt:lpstr>
      <vt:lpstr>Arial</vt:lpstr>
      <vt:lpstr>Calibri</vt:lpstr>
      <vt:lpstr>Calibri Light</vt:lpstr>
      <vt:lpstr>Times New Roman</vt:lpstr>
      <vt:lpstr>Office Theme</vt:lpstr>
      <vt:lpstr>PowerPoint Presentation</vt:lpstr>
      <vt:lpstr>Location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IHE Delft Institute for Water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Lucas Wang</dc:creator>
  <cp:lastModifiedBy>Zhechen Zhang</cp:lastModifiedBy>
  <cp:revision>147</cp:revision>
  <dcterms:created xsi:type="dcterms:W3CDTF">2019-12-11T15:21:42Z</dcterms:created>
  <dcterms:modified xsi:type="dcterms:W3CDTF">2019-12-17T18:20:29Z</dcterms:modified>
</cp:coreProperties>
</file>